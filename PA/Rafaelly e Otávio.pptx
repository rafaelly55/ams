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6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8" name="Rectangle 7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089390" y="1792223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/>
                </a:solidFill>
              </a:defRPr>
            </a:lvl1pPr>
          </a:lstStyle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9592" y="3226820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endParaRPr lang="pt-BR"/>
          </a:p>
        </p:txBody>
      </p:sp>
      <p:sp>
        <p:nvSpPr>
          <p:cNvPr id="10" name="Rectangle 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1008" y="292608"/>
            <a:ext cx="838199" cy="767687"/>
          </a:xfrm>
        </p:spPr>
        <p:txBody>
          <a:bodyPr/>
          <a:lstStyle>
            <a:lvl1pPr>
              <a:defRPr sz="2800" b="0" i="0">
                <a:latin typeface="+mj-lt"/>
              </a:defRPr>
            </a:lvl1pPr>
          </a:lstStyle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990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262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677645"/>
            <a:ext cx="4351023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8" y="2677644"/>
            <a:ext cx="3755379" cy="2283823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5" name="Rectangle 1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2035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310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0" y="3179762"/>
            <a:ext cx="4825159" cy="2840039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4034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7369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5696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295400"/>
            <a:ext cx="2793159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5" cy="45720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2895600"/>
            <a:ext cx="2793158" cy="312927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5" name="Rectangle 1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6855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693332"/>
            <a:ext cx="3860260" cy="173566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88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966674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6" y="553666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008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063416"/>
            <a:ext cx="8825659" cy="1379755"/>
          </a:xfrm>
        </p:spPr>
        <p:txBody>
          <a:bodyPr/>
          <a:lstStyle>
            <a:lvl1pPr>
              <a:defRPr sz="4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4481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5" name="Rectangle 1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3" name="TextBox 12"/>
          <p:cNvSpPr txBox="1"/>
          <p:nvPr/>
        </p:nvSpPr>
        <p:spPr>
          <a:xfrm>
            <a:off x="9719438" y="2631815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9600" dirty="0"/>
              <a:t>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295" y="591093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9600" dirty="0"/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0517"/>
            <a:ext cx="8453906" cy="2698249"/>
          </a:xfrm>
        </p:spPr>
        <p:txBody>
          <a:bodyPr/>
          <a:lstStyle>
            <a:lvl1pPr>
              <a:defRPr sz="4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25772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2" name="Rectangle 3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33201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33068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2" name="Rectangle 1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69900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17299"/>
            <a:ext cx="312916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4" y="3193561"/>
            <a:ext cx="3129168" cy="283349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2"/>
            <a:ext cx="31453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93561"/>
            <a:ext cx="3145380" cy="283349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6700" y="2617299"/>
            <a:ext cx="3161029" cy="576261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6700" y="3193561"/>
            <a:ext cx="3164719" cy="28334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1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1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54118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2" y="4532845"/>
            <a:ext cx="30504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2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3" y="5109107"/>
            <a:ext cx="3050437" cy="91794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537" y="4532846"/>
            <a:ext cx="3046766" cy="651156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3" y="2603500"/>
            <a:ext cx="2691241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8865" y="5184002"/>
            <a:ext cx="3050438" cy="84305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3434" y="4532847"/>
            <a:ext cx="3050438" cy="65115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3434" y="5184001"/>
            <a:ext cx="3050437" cy="843054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388153" y="2603500"/>
            <a:ext cx="0" cy="351759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801905" y="2603500"/>
            <a:ext cx="0" cy="34925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36066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973668"/>
            <a:ext cx="8825660" cy="706964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720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Rectangle 7"/>
            <p:cNvSpPr/>
            <p:nvPr/>
          </p:nvSpPr>
          <p:spPr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76756" y="1278468"/>
            <a:ext cx="1413933" cy="4748589"/>
          </a:xfrm>
        </p:spPr>
        <p:txBody>
          <a:bodyPr vert="eaVert" anchor="b" anchorCtr="0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8"/>
            <a:ext cx="6247546" cy="474859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7099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26" name="Rectangle 2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0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3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2603500"/>
            <a:ext cx="8761412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0938" y="639406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859DB60C-EE5F-44D2-8DDC-FF9D1E561795}" type="datetimeFigureOut">
              <a:rPr lang="pt-BR" smtClean="0"/>
              <a:t>03/04/2026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8358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 b="1" i="0">
                <a:solidFill>
                  <a:schemeClr val="accent1"/>
                </a:solidFill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22" name="Rectangle 2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370C0136-ED48-4130-9B4A-F258654D5A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633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0CA9A8-AA9A-A363-DC26-9118D0C72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3907" y="643812"/>
            <a:ext cx="3860259" cy="1511559"/>
          </a:xfrm>
        </p:spPr>
        <p:txBody>
          <a:bodyPr/>
          <a:lstStyle/>
          <a:p>
            <a:r>
              <a:rPr lang="pt-BR" u="sng" dirty="0"/>
              <a:t>Segurança na Internet</a:t>
            </a:r>
          </a:p>
        </p:txBody>
      </p:sp>
      <p:pic>
        <p:nvPicPr>
          <p:cNvPr id="10" name="Espaço Reservado para Imagem 9" descr="Mão segurando raquete de tênis&#10;&#10;O conteúdo gerado por IA pode estar incorreto.">
            <a:extLst>
              <a:ext uri="{FF2B5EF4-FFF2-40B4-BE49-F238E27FC236}">
                <a16:creationId xmlns:a16="http://schemas.microsoft.com/office/drawing/2014/main" id="{C46AA8A7-ABBC-1EF7-B905-6FBB6507403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35" r="30235"/>
          <a:stretch>
            <a:fillRect/>
          </a:stretch>
        </p:blipFill>
        <p:spPr>
          <a:xfrm>
            <a:off x="6547870" y="1143000"/>
            <a:ext cx="4079697" cy="4572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3B1EECE-2085-DC4F-D506-5888931EE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</a:rPr>
              <a:t>Você está realmente seguro online?</a:t>
            </a:r>
          </a:p>
        </p:txBody>
      </p:sp>
    </p:spTree>
    <p:extLst>
      <p:ext uri="{BB962C8B-B14F-4D97-AF65-F5344CB8AC3E}">
        <p14:creationId xmlns:p14="http://schemas.microsoft.com/office/powerpoint/2010/main" val="1731440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196FBE-8A77-2EFD-06D9-2490DBBC2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u="sng" dirty="0"/>
              <a:t>Introdução á Segurança na Internet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0125EB3-F560-9D2F-241D-EEBE37EF64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4207" y="2741750"/>
            <a:ext cx="8825659" cy="3576629"/>
          </a:xfrm>
        </p:spPr>
        <p:txBody>
          <a:bodyPr>
            <a:normAutofit/>
          </a:bodyPr>
          <a:lstStyle/>
          <a:p>
            <a:pPr marL="342900" indent="-342900"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Segurança na internet protege dados e informações;</a:t>
            </a:r>
          </a:p>
          <a:p>
            <a:pPr marL="342900" indent="-342900"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Envolve práticas para evitar ataques e invasões;</a:t>
            </a:r>
          </a:p>
          <a:p>
            <a:pPr marL="342900" indent="-342900"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Garante privacidade durante uso de serviços online;</a:t>
            </a:r>
          </a:p>
          <a:p>
            <a:pPr marL="342900" indent="-342900"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Protege usuários contra golpes e ameaças digitais;</a:t>
            </a:r>
          </a:p>
          <a:p>
            <a:pPr marL="342900" indent="-342900"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Inclui ferramentas como antivírus senhas e firewalls;</a:t>
            </a:r>
          </a:p>
          <a:p>
            <a:pPr marL="342900" indent="-342900"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Depende do comportamento consciente de cada usuário.</a:t>
            </a:r>
          </a:p>
        </p:txBody>
      </p:sp>
    </p:spTree>
    <p:extLst>
      <p:ext uri="{BB962C8B-B14F-4D97-AF65-F5344CB8AC3E}">
        <p14:creationId xmlns:p14="http://schemas.microsoft.com/office/powerpoint/2010/main" val="1479854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99BDAA-DE17-5D24-342C-5D7A8263D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4726" y="908354"/>
            <a:ext cx="8761413" cy="706964"/>
          </a:xfrm>
        </p:spPr>
        <p:txBody>
          <a:bodyPr/>
          <a:lstStyle/>
          <a:p>
            <a:r>
              <a:rPr lang="pt-BR" sz="4800" u="sng" dirty="0"/>
              <a:t>Perigos da Internet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E44A15-FF49-908B-5ED7-831FE55053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277" y="2080090"/>
            <a:ext cx="4825158" cy="4952721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pt-BR" sz="5900" u="sng" dirty="0"/>
              <a:t>Ameaças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4200" dirty="0" err="1"/>
              <a:t>Phishing</a:t>
            </a:r>
            <a:r>
              <a:rPr lang="pt-BR" sz="4200" dirty="0"/>
              <a:t>(cibercrime) engana usuários para roubar dados pessoais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4200" dirty="0"/>
              <a:t>Malware infecta dispositivos causando danos e perdas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4200" dirty="0" err="1"/>
              <a:t>Ransomware</a:t>
            </a:r>
            <a:r>
              <a:rPr lang="pt-BR" sz="4200" dirty="0"/>
              <a:t> bloqueia arquivos exigindo pagamento para liberação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4200" dirty="0"/>
              <a:t>Links falsos direcionam para páginas perigosas desconhecidas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4200" dirty="0"/>
              <a:t>Engenharia social manipula pessoas para obter informações confidenciais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4200" dirty="0"/>
              <a:t>Roubo identidade usa dados pessoais para fraudes</a:t>
            </a:r>
            <a:endParaRPr lang="pt-BR" sz="4200" u="sng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6BC7B29-8ABD-A8BF-BEDA-A6B49E883F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246476"/>
            <a:ext cx="4825159" cy="3797300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pt-BR" sz="5900" u="sng" dirty="0"/>
              <a:t>Consequências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5100" dirty="0">
                <a:latin typeface="Century Gothic" panose="020B0502020202020204" pitchFamily="34" charset="0"/>
              </a:rPr>
              <a:t>G</a:t>
            </a:r>
            <a:r>
              <a:rPr lang="pt-BR" sz="5100" i="0" dirty="0">
                <a:effectLst/>
                <a:latin typeface="Century Gothic" panose="020B0502020202020204" pitchFamily="34" charset="0"/>
              </a:rPr>
              <a:t>raves danos financeiros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5100" dirty="0">
                <a:latin typeface="Century Gothic" panose="020B0502020202020204" pitchFamily="34" charset="0"/>
              </a:rPr>
              <a:t>R</a:t>
            </a:r>
            <a:r>
              <a:rPr lang="pt-BR" sz="5100" i="0" dirty="0">
                <a:effectLst/>
                <a:latin typeface="Century Gothic" panose="020B0502020202020204" pitchFamily="34" charset="0"/>
              </a:rPr>
              <a:t>oubo de identidade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5100" dirty="0">
                <a:latin typeface="Century Gothic" panose="020B0502020202020204" pitchFamily="34" charset="0"/>
              </a:rPr>
              <a:t>E</a:t>
            </a:r>
            <a:r>
              <a:rPr lang="pt-BR" sz="5100" i="0" dirty="0">
                <a:effectLst/>
                <a:latin typeface="Century Gothic" panose="020B0502020202020204" pitchFamily="34" charset="0"/>
              </a:rPr>
              <a:t>xposição de dados pessoais,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5100" dirty="0">
                <a:latin typeface="Century Gothic" panose="020B0502020202020204" pitchFamily="34" charset="0"/>
              </a:rPr>
              <a:t>P</a:t>
            </a:r>
            <a:r>
              <a:rPr lang="pt-BR" sz="5100" i="0" dirty="0">
                <a:effectLst/>
                <a:latin typeface="Century Gothic" panose="020B0502020202020204" pitchFamily="34" charset="0"/>
              </a:rPr>
              <a:t>aralisação de negócios e impactos psicológicos</a:t>
            </a:r>
          </a:p>
          <a:p>
            <a:pPr>
              <a:buClr>
                <a:srgbClr val="FFC000"/>
              </a:buClr>
              <a:buSzPct val="120000"/>
              <a:buFont typeface="Walbaum Text" panose="02070503080703020303" pitchFamily="18" charset="0"/>
              <a:buChar char="!"/>
            </a:pPr>
            <a:r>
              <a:rPr lang="pt-BR" sz="5100" i="0" dirty="0">
                <a:effectLst/>
                <a:latin typeface="Century Gothic" panose="020B0502020202020204" pitchFamily="34" charset="0"/>
              </a:rPr>
              <a:t>Como traumas e ansiedade</a:t>
            </a:r>
            <a:endParaRPr lang="pt-BR" sz="5100" u="sng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2747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1300BE-BB08-6BA3-7EBD-C741E0155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9859" y="838199"/>
            <a:ext cx="8761413" cy="706964"/>
          </a:xfrm>
        </p:spPr>
        <p:txBody>
          <a:bodyPr/>
          <a:lstStyle/>
          <a:p>
            <a:r>
              <a:rPr lang="pt-BR" sz="5400" u="sng" dirty="0"/>
              <a:t>Senhas e acessos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5FFB5F-44D6-579E-0376-4F77B5257C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506" y="2286000"/>
            <a:ext cx="5429606" cy="4477871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pt-BR" sz="2800" u="sng" dirty="0"/>
              <a:t>Senhas recomendáveis e oque fazer: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1900" dirty="0"/>
              <a:t>Crie senhas fortes com letras números símbolos(7RF03#@6G9)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1900" dirty="0"/>
              <a:t>Ative autenticação dois fatores para mais segurança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1900" dirty="0"/>
              <a:t>Troque senhas regularmente para evitar invasões indesejadas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1900" dirty="0"/>
              <a:t>Nunca compartilhe suas senhas com outras pessoas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1900" dirty="0"/>
              <a:t>Use gerenciadores para armazenar senhas com segurança</a:t>
            </a:r>
          </a:p>
          <a:p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03A71D0-0F0D-6A2A-7DB1-DB9140DD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286000"/>
            <a:ext cx="5172560" cy="4114800"/>
          </a:xfrm>
        </p:spPr>
        <p:txBody>
          <a:bodyPr>
            <a:normAutofit lnSpcReduction="10000"/>
          </a:bodyPr>
          <a:lstStyle/>
          <a:p>
            <a:pPr algn="ctr">
              <a:buFont typeface="Wingdings" panose="05000000000000000000" pitchFamily="2" charset="2"/>
              <a:buChar char="v"/>
            </a:pPr>
            <a:r>
              <a:rPr lang="pt-BR" sz="2600" u="sng" dirty="0"/>
              <a:t>Senhas não  recomendáveis e oque não fazer</a:t>
            </a:r>
            <a:r>
              <a:rPr lang="pt-BR" sz="2800" dirty="0"/>
              <a:t>:</a:t>
            </a:r>
          </a:p>
          <a:p>
            <a:pPr algn="ctr">
              <a:buClr>
                <a:srgbClr val="C00000"/>
              </a:buClr>
              <a:buSzPct val="120000"/>
              <a:buFont typeface="Wingdings 2" panose="05020102010507070707" pitchFamily="18" charset="2"/>
              <a:buChar char="Q"/>
            </a:pPr>
            <a:r>
              <a:rPr lang="pt-BR" sz="2200" dirty="0"/>
              <a:t>Não usar seu nome próprio e seu aniversario</a:t>
            </a:r>
          </a:p>
          <a:p>
            <a:pPr algn="ctr">
              <a:buClr>
                <a:srgbClr val="C00000"/>
              </a:buClr>
              <a:buSzPct val="120000"/>
              <a:buFont typeface="Wingdings 2" panose="05020102010507070707" pitchFamily="18" charset="2"/>
              <a:buChar char="Q"/>
            </a:pPr>
            <a:r>
              <a:rPr lang="pt-BR" sz="2200" dirty="0"/>
              <a:t>Evitar muitas repetições em sequencia(seu nome1111345555) </a:t>
            </a:r>
          </a:p>
          <a:p>
            <a:pPr algn="ctr">
              <a:buClr>
                <a:srgbClr val="C00000"/>
              </a:buClr>
              <a:buSzPct val="120000"/>
              <a:buFont typeface="Wingdings 2" panose="05020102010507070707" pitchFamily="18" charset="2"/>
              <a:buChar char="Q"/>
            </a:pPr>
            <a:r>
              <a:rPr lang="pt-BR" sz="2200" dirty="0"/>
              <a:t>Evite contar suas senhas para muitas pessoas</a:t>
            </a:r>
          </a:p>
          <a:p>
            <a:pPr algn="ctr">
              <a:buClr>
                <a:srgbClr val="C00000"/>
              </a:buClr>
              <a:buSzPct val="120000"/>
              <a:buFont typeface="Wingdings 2" panose="05020102010507070707" pitchFamily="18" charset="2"/>
              <a:buChar char="Q"/>
            </a:pPr>
            <a:r>
              <a:rPr lang="pt-BR" sz="2400" dirty="0"/>
              <a:t>Evite repetir mesma senha em vários serviços</a:t>
            </a:r>
          </a:p>
          <a:p>
            <a:pPr algn="ctr">
              <a:buClr>
                <a:srgbClr val="C00000"/>
              </a:buClr>
              <a:buSzPct val="120000"/>
              <a:buFont typeface="Wingdings 2" panose="05020102010507070707" pitchFamily="18" charset="2"/>
              <a:buChar char="Q"/>
            </a:pPr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93785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2EDE2A-DE9C-ADA2-6DB4-865869FF0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8247" y="945777"/>
            <a:ext cx="8761413" cy="706964"/>
          </a:xfrm>
        </p:spPr>
        <p:txBody>
          <a:bodyPr/>
          <a:lstStyle/>
          <a:p>
            <a:r>
              <a:rPr lang="pt-BR" sz="4800" u="sng" dirty="0"/>
              <a:t>Navegação Segura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E474B3-7820-1A51-8F96-9E1B4573F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472" y="2482476"/>
            <a:ext cx="5877857" cy="4200711"/>
          </a:xfrm>
        </p:spPr>
        <p:txBody>
          <a:bodyPr>
            <a:normAutofit fontScale="55000" lnSpcReduction="20000"/>
          </a:bodyPr>
          <a:lstStyle/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600" dirty="0"/>
              <a:t>Cuidado com links suspeitos e </a:t>
            </a:r>
            <a:r>
              <a:rPr lang="pt-BR" sz="3600" dirty="0" err="1"/>
              <a:t>phishing</a:t>
            </a:r>
            <a:endParaRPr lang="pt-BR" sz="3600" dirty="0"/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600" dirty="0"/>
              <a:t>Use conexões seguras HTTPS ao navegar online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600" dirty="0"/>
              <a:t>Evite clicar em anúncios desconhecidos na internet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600" dirty="0"/>
              <a:t>Verifique sites antes de inserir dados pessoais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600" dirty="0"/>
              <a:t>Desconfie de ofertas boas demais na internet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600" dirty="0"/>
              <a:t>Saiba reconhecer golpes comuns na internet atual</a:t>
            </a:r>
            <a:br>
              <a:rPr lang="pt-BR" sz="3600" dirty="0"/>
            </a:br>
            <a:br>
              <a:rPr lang="pt-BR" sz="3600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39032A3-7C43-D862-6CC7-3E5B18F404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8272" y="2918011"/>
            <a:ext cx="3711388" cy="2837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7137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DFC5C-9D61-D244-86DF-15E5B1BE4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1776" y="924362"/>
            <a:ext cx="8761413" cy="706964"/>
          </a:xfrm>
        </p:spPr>
        <p:txBody>
          <a:bodyPr/>
          <a:lstStyle/>
          <a:p>
            <a:r>
              <a:rPr lang="pt-BR" sz="4800" u="sng" dirty="0"/>
              <a:t>Dispositivos e Sistemas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1EB3AA-33F2-CEA2-725D-495C77D18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366" y="2294218"/>
            <a:ext cx="8761412" cy="3851088"/>
          </a:xfrm>
        </p:spPr>
        <p:txBody>
          <a:bodyPr>
            <a:normAutofit/>
          </a:bodyPr>
          <a:lstStyle/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Mantenha sistemas e aplicativos sempre atualizados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Use antivírus confiável e mantenha atualizado sempre(</a:t>
            </a:r>
            <a:r>
              <a:rPr lang="pt-BR" sz="2000" b="1" dirty="0" err="1"/>
              <a:t>Bitdefender</a:t>
            </a:r>
            <a:r>
              <a:rPr lang="pt-BR" sz="2000" b="1" dirty="0"/>
              <a:t>, Norton 360)</a:t>
            </a:r>
            <a:endParaRPr lang="pt-BR" sz="2000" dirty="0"/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Evite baixar arquivos de fontes desconhecidas sempre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Revise permissões de aplicativos instalados regularmente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Proteja dispositivos com bloqueio automático configurado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2000" dirty="0"/>
              <a:t>Instale apps apenas de lojas oficiais confiáveis</a:t>
            </a:r>
            <a:br>
              <a:rPr lang="pt-BR" sz="2000" dirty="0"/>
            </a:br>
            <a:br>
              <a:rPr lang="pt-BR" sz="2000" dirty="0"/>
            </a:br>
            <a:br>
              <a:rPr lang="pt-BR" sz="2000" dirty="0"/>
            </a:b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406978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A45373-699F-18C1-C707-BBBAA73E4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0587" y="879539"/>
            <a:ext cx="8761413" cy="706964"/>
          </a:xfrm>
        </p:spPr>
        <p:txBody>
          <a:bodyPr/>
          <a:lstStyle/>
          <a:p>
            <a:r>
              <a:rPr lang="pt-BR" sz="5400" u="sng" dirty="0"/>
              <a:t>Uso de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2BCA6FD-8216-C3D3-917A-A477C83C15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9154" y="2388347"/>
            <a:ext cx="4825158" cy="4625788"/>
          </a:xfrm>
        </p:spPr>
        <p:txBody>
          <a:bodyPr>
            <a:normAutofit fontScale="62500" lnSpcReduction="20000"/>
          </a:bodyPr>
          <a:lstStyle/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200" dirty="0"/>
              <a:t>Cuidado ao usar Wi-Fi gratuito em locais públicos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200" dirty="0"/>
              <a:t>Prefira redes privadas com senha forte segura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200" dirty="0"/>
              <a:t>Desative conexões automáticas a redes desconhecidas sempre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200" dirty="0"/>
              <a:t>Use VPN(conexão segura, criptografada e privada )ao acessar dados importantes online</a:t>
            </a:r>
          </a:p>
          <a:p>
            <a:pPr>
              <a:buSzPct val="120000"/>
              <a:buFont typeface="Wingdings 2" panose="05020102010507070707" pitchFamily="18" charset="2"/>
              <a:buChar char="R"/>
            </a:pPr>
            <a:r>
              <a:rPr lang="pt-BR" sz="3200" dirty="0"/>
              <a:t>Monitore dispositivos conectados à sua rede doméstica</a:t>
            </a:r>
            <a:br>
              <a:rPr lang="pt-BR" sz="2400" dirty="0"/>
            </a:br>
            <a:br>
              <a:rPr lang="pt-BR" sz="2400" dirty="0"/>
            </a:br>
            <a:br>
              <a:rPr lang="pt-BR" sz="2400" dirty="0"/>
            </a:br>
            <a:br>
              <a:rPr lang="pt-BR" sz="2400" dirty="0"/>
            </a:br>
            <a:endParaRPr lang="pt-BR" sz="2400" dirty="0"/>
          </a:p>
          <a:p>
            <a:pPr>
              <a:buFont typeface="Wingdings 2" panose="05020102010507070707" pitchFamily="18" charset="2"/>
              <a:buChar char="R"/>
            </a:pP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E9EB861-E829-FD54-7A4C-729CF8D67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388347"/>
            <a:ext cx="5720976" cy="3340100"/>
          </a:xfrm>
        </p:spPr>
        <p:txBody>
          <a:bodyPr>
            <a:noAutofit/>
          </a:bodyPr>
          <a:lstStyle/>
          <a:p>
            <a:pPr>
              <a:buClr>
                <a:srgbClr val="C00000"/>
              </a:buClr>
              <a:buSzPct val="120000"/>
              <a:buFont typeface="Wingdings 2" panose="05020102010507070707" pitchFamily="18" charset="2"/>
              <a:buChar char="Q"/>
            </a:pPr>
            <a:r>
              <a:rPr lang="pt-BR" sz="2000" dirty="0"/>
              <a:t>Evite redes públicas para transações sensíveis</a:t>
            </a:r>
          </a:p>
          <a:p>
            <a:pPr>
              <a:buClr>
                <a:srgbClr val="C00000"/>
              </a:buClr>
              <a:buSzPct val="120000"/>
              <a:buFont typeface="Wingdings 2" panose="05020102010507070707" pitchFamily="18" charset="2"/>
              <a:buChar char="Q"/>
            </a:pPr>
            <a:r>
              <a:rPr lang="pt-BR" sz="2000" dirty="0"/>
              <a:t>Evite entrar em contas de bancos e fazer compras online em </a:t>
            </a:r>
            <a:r>
              <a:rPr lang="pt-BR" sz="2000" dirty="0" err="1"/>
              <a:t>Wi-fi</a:t>
            </a:r>
            <a:r>
              <a:rPr lang="pt-BR" sz="2000" dirty="0"/>
              <a:t> públicos(Cafés, Aeroportos, Hotéis).Use a sua própria internet</a:t>
            </a:r>
          </a:p>
          <a:p>
            <a:pPr>
              <a:buClr>
                <a:srgbClr val="C00000"/>
              </a:buClr>
              <a:buSzPct val="120000"/>
              <a:buFont typeface="Wingdings 2" panose="05020102010507070707" pitchFamily="18" charset="2"/>
              <a:buChar char="Q"/>
            </a:pPr>
            <a:r>
              <a:rPr lang="pt-BR" sz="2000" dirty="0"/>
              <a:t>Não ignore avisos de certificados: Se o navegador alertar sobre um site não </a:t>
            </a:r>
            <a:r>
              <a:rPr lang="pt-BR" sz="2000" dirty="0" err="1"/>
              <a:t>seguro,saia</a:t>
            </a:r>
            <a:r>
              <a:rPr lang="pt-BR" sz="2000" dirty="0"/>
              <a:t> imediatamente</a:t>
            </a:r>
          </a:p>
        </p:txBody>
      </p:sp>
    </p:spTree>
    <p:extLst>
      <p:ext uri="{BB962C8B-B14F-4D97-AF65-F5344CB8AC3E}">
        <p14:creationId xmlns:p14="http://schemas.microsoft.com/office/powerpoint/2010/main" val="1448819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EEB6B-8D10-56C1-B58C-4707DB9D0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5905" y="820893"/>
            <a:ext cx="8761413" cy="706964"/>
          </a:xfrm>
        </p:spPr>
        <p:txBody>
          <a:bodyPr/>
          <a:lstStyle/>
          <a:p>
            <a:r>
              <a:rPr lang="pt-BR" sz="5400" u="sng" dirty="0"/>
              <a:t>Proteção de Dados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6032BD-9BA6-1714-D747-35302CFC9D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2260" y="2267324"/>
            <a:ext cx="4825158" cy="4254500"/>
          </a:xfrm>
        </p:spPr>
        <p:txBody>
          <a:bodyPr>
            <a:noAutofit/>
          </a:bodyPr>
          <a:lstStyle/>
          <a:p>
            <a:pPr>
              <a:buSzPct val="122000"/>
              <a:buFont typeface="Wingdings 2" panose="05020102010507070707" pitchFamily="18" charset="2"/>
              <a:buChar char="R"/>
            </a:pPr>
            <a:r>
              <a:rPr lang="pt-BR" sz="2400" dirty="0"/>
              <a:t>Faça backups regulares para proteger dados</a:t>
            </a:r>
          </a:p>
          <a:p>
            <a:pPr>
              <a:buSzPct val="122000"/>
              <a:buFont typeface="Wingdings 2" panose="05020102010507070707" pitchFamily="18" charset="2"/>
              <a:buChar char="R"/>
            </a:pPr>
            <a:r>
              <a:rPr lang="pt-BR" sz="2400" dirty="0"/>
              <a:t>Armazene arquivos importantes em locais seguros</a:t>
            </a:r>
          </a:p>
          <a:p>
            <a:pPr>
              <a:buSzPct val="122000"/>
              <a:buFont typeface="Wingdings 2" panose="05020102010507070707" pitchFamily="18" charset="2"/>
              <a:buChar char="R"/>
            </a:pPr>
            <a:r>
              <a:rPr lang="pt-BR" sz="2400" dirty="0"/>
              <a:t>Use criptografia (KMS) para proteger arquivos confidenciais</a:t>
            </a:r>
          </a:p>
          <a:p>
            <a:pPr>
              <a:buSzPct val="122000"/>
              <a:buFont typeface="Wingdings 2" panose="05020102010507070707" pitchFamily="18" charset="2"/>
              <a:buChar char="R"/>
            </a:pPr>
            <a:r>
              <a:rPr lang="pt-BR" sz="2400" dirty="0"/>
              <a:t>Apague dados antigos que não são necessários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EB176C4-DD66-A46B-A7EF-81411B2E2D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2159" y="2468031"/>
            <a:ext cx="4825159" cy="3798297"/>
          </a:xfrm>
        </p:spPr>
        <p:txBody>
          <a:bodyPr>
            <a:normAutofit fontScale="92500" lnSpcReduction="10000"/>
          </a:bodyPr>
          <a:lstStyle/>
          <a:p>
            <a:pPr>
              <a:buClr>
                <a:srgbClr val="FFC000"/>
              </a:buClr>
              <a:buSzPct val="133000"/>
              <a:buFont typeface="Walbaum Text" panose="02070503080703020303" pitchFamily="18" charset="0"/>
              <a:buChar char="!"/>
            </a:pPr>
            <a:r>
              <a:rPr lang="pt-BR" sz="2400" dirty="0"/>
              <a:t>Tome cuidado com as coisas que compartilha na internet como fotos e informações pessoais</a:t>
            </a:r>
          </a:p>
          <a:p>
            <a:pPr>
              <a:buClr>
                <a:srgbClr val="FFC000"/>
              </a:buClr>
              <a:buSzPct val="133000"/>
              <a:buFont typeface="Walbaum Text" panose="02070503080703020303" pitchFamily="18" charset="0"/>
              <a:buChar char="!"/>
            </a:pPr>
            <a:r>
              <a:rPr lang="pt-BR" sz="2400" dirty="0"/>
              <a:t>Cuidado com as pessoas que você conversa na internet</a:t>
            </a:r>
          </a:p>
          <a:p>
            <a:pPr>
              <a:buClr>
                <a:srgbClr val="FF0000"/>
              </a:buClr>
              <a:buSzPct val="134000"/>
              <a:buFont typeface="Wingdings 2" panose="05020102010507070707" pitchFamily="18" charset="2"/>
              <a:buChar char="Q"/>
            </a:pPr>
            <a:r>
              <a:rPr lang="pt-BR" sz="2400" dirty="0"/>
              <a:t>Evite enviar informações sensíveis por mensagens comuns(fale pessoalmente ou coloque em visualização única)</a:t>
            </a:r>
          </a:p>
          <a:p>
            <a:pPr>
              <a:buClr>
                <a:srgbClr val="FF0000"/>
              </a:buClr>
              <a:buFont typeface="Wingdings 2" panose="05020102010507070707" pitchFamily="18" charset="2"/>
              <a:buChar char="Q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68158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írculo Parcial 11">
            <a:extLst>
              <a:ext uri="{FF2B5EF4-FFF2-40B4-BE49-F238E27FC236}">
                <a16:creationId xmlns:a16="http://schemas.microsoft.com/office/drawing/2014/main" id="{D87623CD-C765-8D7A-683F-68C504A8BFCB}"/>
              </a:ext>
            </a:extLst>
          </p:cNvPr>
          <p:cNvSpPr/>
          <p:nvPr/>
        </p:nvSpPr>
        <p:spPr>
          <a:xfrm rot="14576886">
            <a:off x="3977218" y="2596747"/>
            <a:ext cx="3628270" cy="3897381"/>
          </a:xfrm>
          <a:prstGeom prst="pie">
            <a:avLst>
              <a:gd name="adj1" fmla="val 0"/>
              <a:gd name="adj2" fmla="val 2094258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11" name="Círculo Parcial 10">
            <a:extLst>
              <a:ext uri="{FF2B5EF4-FFF2-40B4-BE49-F238E27FC236}">
                <a16:creationId xmlns:a16="http://schemas.microsoft.com/office/drawing/2014/main" id="{388E0328-BF7B-660B-481A-C818D00E8D42}"/>
              </a:ext>
            </a:extLst>
          </p:cNvPr>
          <p:cNvSpPr/>
          <p:nvPr/>
        </p:nvSpPr>
        <p:spPr>
          <a:xfrm rot="10512626">
            <a:off x="3555259" y="2651482"/>
            <a:ext cx="4290668" cy="3847948"/>
          </a:xfrm>
          <a:prstGeom prst="pie">
            <a:avLst>
              <a:gd name="adj1" fmla="val 1607228"/>
              <a:gd name="adj2" fmla="val 9111624"/>
            </a:avLst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799D00-567F-6337-8763-662A47FC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2117" y="904060"/>
            <a:ext cx="8761413" cy="706964"/>
          </a:xfrm>
        </p:spPr>
        <p:txBody>
          <a:bodyPr/>
          <a:lstStyle/>
          <a:p>
            <a:r>
              <a:rPr lang="pt-BR" u="sng" dirty="0"/>
              <a:t>Porcentagem de quem mais cai em golpes online</a:t>
            </a:r>
          </a:p>
        </p:txBody>
      </p:sp>
      <p:sp>
        <p:nvSpPr>
          <p:cNvPr id="9" name="Círculo Parcial 8">
            <a:extLst>
              <a:ext uri="{FF2B5EF4-FFF2-40B4-BE49-F238E27FC236}">
                <a16:creationId xmlns:a16="http://schemas.microsoft.com/office/drawing/2014/main" id="{DC814FE9-FF9B-8437-5A80-2B53E53B7AA7}"/>
              </a:ext>
            </a:extLst>
          </p:cNvPr>
          <p:cNvSpPr/>
          <p:nvPr/>
        </p:nvSpPr>
        <p:spPr>
          <a:xfrm>
            <a:off x="3630706" y="2608728"/>
            <a:ext cx="4208930" cy="3818965"/>
          </a:xfrm>
          <a:prstGeom prst="pie">
            <a:avLst>
              <a:gd name="adj1" fmla="val 3890007"/>
              <a:gd name="adj2" fmla="val 12996241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0" name="Círculo Parcial 9">
            <a:extLst>
              <a:ext uri="{FF2B5EF4-FFF2-40B4-BE49-F238E27FC236}">
                <a16:creationId xmlns:a16="http://schemas.microsoft.com/office/drawing/2014/main" id="{0F897F7C-CACD-4E50-37CD-D2C6C8BA592A}"/>
              </a:ext>
            </a:extLst>
          </p:cNvPr>
          <p:cNvSpPr/>
          <p:nvPr/>
        </p:nvSpPr>
        <p:spPr>
          <a:xfrm rot="12293545">
            <a:off x="3620389" y="2686589"/>
            <a:ext cx="4184285" cy="3853683"/>
          </a:xfrm>
          <a:prstGeom prst="pie">
            <a:avLst>
              <a:gd name="adj1" fmla="val 21353273"/>
              <a:gd name="adj2" fmla="val 2328695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1AD5FE0-563E-270C-AE20-6765D7B7CBD4}"/>
              </a:ext>
            </a:extLst>
          </p:cNvPr>
          <p:cNvSpPr txBox="1"/>
          <p:nvPr/>
        </p:nvSpPr>
        <p:spPr>
          <a:xfrm>
            <a:off x="4017310" y="4864704"/>
            <a:ext cx="6098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Adultos(30-59)</a:t>
            </a:r>
          </a:p>
          <a:p>
            <a:r>
              <a:rPr lang="pt-BR" dirty="0"/>
              <a:t>          45,0%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310DC9D-AFB6-A1A1-974B-21C064159C20}"/>
              </a:ext>
            </a:extLst>
          </p:cNvPr>
          <p:cNvSpPr txBox="1"/>
          <p:nvPr/>
        </p:nvSpPr>
        <p:spPr>
          <a:xfrm>
            <a:off x="3795896" y="3400104"/>
            <a:ext cx="17442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 err="1"/>
              <a:t>Adolecentes</a:t>
            </a:r>
            <a:r>
              <a:rPr lang="pt-BR" sz="1600" dirty="0"/>
              <a:t> /outros 9,0%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61C86DDF-F467-D516-FA34-610D3F56F2F7}"/>
              </a:ext>
            </a:extLst>
          </p:cNvPr>
          <p:cNvSpPr txBox="1"/>
          <p:nvPr/>
        </p:nvSpPr>
        <p:spPr>
          <a:xfrm>
            <a:off x="5374488" y="3137456"/>
            <a:ext cx="14430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Idosos(60+)</a:t>
            </a:r>
          </a:p>
          <a:p>
            <a:r>
              <a:rPr lang="pt-BR" dirty="0"/>
              <a:t>      16,0%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9D04C794-C704-C226-074C-EFE779FE50B6}"/>
              </a:ext>
            </a:extLst>
          </p:cNvPr>
          <p:cNvSpPr txBox="1"/>
          <p:nvPr/>
        </p:nvSpPr>
        <p:spPr>
          <a:xfrm>
            <a:off x="6024466" y="4438874"/>
            <a:ext cx="1715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Jovens(18-29)</a:t>
            </a:r>
          </a:p>
          <a:p>
            <a:r>
              <a:rPr lang="pt-BR" dirty="0"/>
              <a:t>          30,0%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C02E8F85-8034-ECC7-3542-6E648E5C156A}"/>
              </a:ext>
            </a:extLst>
          </p:cNvPr>
          <p:cNvSpPr txBox="1"/>
          <p:nvPr/>
        </p:nvSpPr>
        <p:spPr>
          <a:xfrm>
            <a:off x="332949" y="2172704"/>
            <a:ext cx="290971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Adultos e jovens adultos:</a:t>
            </a:r>
          </a:p>
          <a:p>
            <a:r>
              <a:rPr lang="pt-BR" dirty="0"/>
              <a:t>Mais visados por fraude financeira,</a:t>
            </a:r>
          </a:p>
          <a:p>
            <a:r>
              <a:rPr lang="pt-BR" dirty="0"/>
              <a:t>Como o golpe do pix e lojas virtuais falsas , devido ao alto volume de compras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0DFC0275-8319-7242-F249-DBF5B8F60C08}"/>
              </a:ext>
            </a:extLst>
          </p:cNvPr>
          <p:cNvSpPr txBox="1"/>
          <p:nvPr/>
        </p:nvSpPr>
        <p:spPr>
          <a:xfrm>
            <a:off x="228600" y="4988859"/>
            <a:ext cx="34021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Idosos:</a:t>
            </a:r>
          </a:p>
          <a:p>
            <a:r>
              <a:rPr lang="pt-BR" dirty="0" err="1"/>
              <a:t>Frequentimente</a:t>
            </a:r>
            <a:r>
              <a:rPr lang="pt-BR" dirty="0"/>
              <a:t> alvo de estelionato digital , clonagem de cartão e golpe de “falso parente”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7B313E5-177C-29B9-8DA2-A11BB1BA366E}"/>
              </a:ext>
            </a:extLst>
          </p:cNvPr>
          <p:cNvSpPr txBox="1"/>
          <p:nvPr/>
        </p:nvSpPr>
        <p:spPr>
          <a:xfrm>
            <a:off x="8327339" y="2491125"/>
            <a:ext cx="35317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Adolecentes</a:t>
            </a:r>
            <a:r>
              <a:rPr lang="pt-BR" dirty="0"/>
              <a:t>:</a:t>
            </a:r>
          </a:p>
          <a:p>
            <a:r>
              <a:rPr lang="pt-BR" dirty="0"/>
              <a:t>Mais vulneráveis a </a:t>
            </a:r>
            <a:r>
              <a:rPr lang="pt-BR" dirty="0" err="1"/>
              <a:t>phishing</a:t>
            </a:r>
            <a:r>
              <a:rPr lang="pt-BR" dirty="0"/>
              <a:t>( utiliza mensagens falsas e-mail, SMS, WhatsApp, ligações) em jogos online e redes sociais além de riscos maiores de exposição de dados pessoais</a:t>
            </a:r>
          </a:p>
        </p:txBody>
      </p:sp>
    </p:spTree>
    <p:extLst>
      <p:ext uri="{BB962C8B-B14F-4D97-AF65-F5344CB8AC3E}">
        <p14:creationId xmlns:p14="http://schemas.microsoft.com/office/powerpoint/2010/main" val="149272114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Íon - Sala da Diretoria">
  <a:themeElements>
    <a:clrScheme name="Íon - Sala da Diretoria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Íon - Sala da Diretoria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Íon - Sala da Diretoria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A3AB87EF-B655-4FFF-8D05-F333AD7F27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193</TotalTime>
  <Words>602</Words>
  <Application>Microsoft Office PowerPoint</Application>
  <PresentationFormat>Widescreen</PresentationFormat>
  <Paragraphs>81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Century Gothic</vt:lpstr>
      <vt:lpstr>Walbaum Text</vt:lpstr>
      <vt:lpstr>Wingdings</vt:lpstr>
      <vt:lpstr>Wingdings 2</vt:lpstr>
      <vt:lpstr>Wingdings 3</vt:lpstr>
      <vt:lpstr>Íon - Sala da Diretoria</vt:lpstr>
      <vt:lpstr>Segurança na Internet</vt:lpstr>
      <vt:lpstr>Introdução á Segurança na Internet</vt:lpstr>
      <vt:lpstr>Perigos da Internet</vt:lpstr>
      <vt:lpstr>Senhas e acessos</vt:lpstr>
      <vt:lpstr>Navegação Segura</vt:lpstr>
      <vt:lpstr>Dispositivos e Sistemas</vt:lpstr>
      <vt:lpstr>Uso de Redes</vt:lpstr>
      <vt:lpstr>Proteção de Dados</vt:lpstr>
      <vt:lpstr>Porcentagem de quem mais cai em golpes online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Fatec</dc:creator>
  <cp:lastModifiedBy>Alessandro</cp:lastModifiedBy>
  <cp:revision>2</cp:revision>
  <dcterms:created xsi:type="dcterms:W3CDTF">2026-03-31T15:37:00Z</dcterms:created>
  <dcterms:modified xsi:type="dcterms:W3CDTF">2026-04-03T21:09:11Z</dcterms:modified>
</cp:coreProperties>
</file>